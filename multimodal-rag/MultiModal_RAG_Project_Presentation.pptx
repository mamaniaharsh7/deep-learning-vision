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717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54989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RAG Shopping Assistant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5334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52750" y="1321594"/>
            <a:ext cx="3238500" cy="339030"/>
          </a:xfrm>
          <a:prstGeom prst="roundRect">
            <a:avLst>
              <a:gd name="adj" fmla="val 16857"/>
            </a:avLst>
          </a:prstGeom>
          <a:solidFill>
            <a:srgbClr val="5EA8A7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92399" y="1397794"/>
            <a:ext cx="27592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 (Text/Image)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05325" y="1727299"/>
            <a:ext cx="133350" cy="0"/>
          </a:xfrm>
          <a:prstGeom prst="line">
            <a:avLst/>
          </a:prstGeom>
          <a:noFill/>
          <a:ln w="76200">
            <a:solidFill>
              <a:srgbClr val="5665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5338" y="1689199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8662" y="1689199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2750" y="1793974"/>
            <a:ext cx="3238500" cy="491282"/>
          </a:xfrm>
          <a:prstGeom prst="roundRect">
            <a:avLst>
              <a:gd name="adj" fmla="val 11633"/>
            </a:avLst>
          </a:prstGeom>
          <a:solidFill>
            <a:srgbClr val="2E4053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14675" y="1870174"/>
            <a:ext cx="2914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Encoder (ViT-B/32)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114675" y="2062460"/>
            <a:ext cx="2914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512-D Embedding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4505325" y="2351931"/>
            <a:ext cx="133350" cy="0"/>
          </a:xfrm>
          <a:prstGeom prst="line">
            <a:avLst/>
          </a:prstGeom>
          <a:noFill/>
          <a:ln w="76200">
            <a:solidFill>
              <a:srgbClr val="5665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5338" y="2313831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8662" y="2313831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2750" y="2418606"/>
            <a:ext cx="3238500" cy="491282"/>
          </a:xfrm>
          <a:prstGeom prst="roundRect">
            <a:avLst>
              <a:gd name="adj" fmla="val 11633"/>
            </a:avLst>
          </a:prstGeom>
          <a:solidFill>
            <a:srgbClr val="2E4053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14675" y="2494806"/>
            <a:ext cx="2914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LanceDB Vector Store (ANN)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114675" y="2687092"/>
            <a:ext cx="2914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Top-k Retrieval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4505325" y="2976562"/>
            <a:ext cx="133350" cy="0"/>
          </a:xfrm>
          <a:prstGeom prst="line">
            <a:avLst/>
          </a:prstGeom>
          <a:noFill/>
          <a:ln w="76200">
            <a:solidFill>
              <a:srgbClr val="5665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5338" y="2938463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8662" y="2938463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52750" y="3043238"/>
            <a:ext cx="3238500" cy="491282"/>
          </a:xfrm>
          <a:prstGeom prst="roundRect">
            <a:avLst>
              <a:gd name="adj" fmla="val 11633"/>
            </a:avLst>
          </a:prstGeom>
          <a:solidFill>
            <a:srgbClr val="2E4053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14675" y="3119438"/>
            <a:ext cx="2914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114675" y="3311723"/>
            <a:ext cx="2914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Text + Image (α = 0.3)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505325" y="3601194"/>
            <a:ext cx="133350" cy="0"/>
          </a:xfrm>
          <a:prstGeom prst="line">
            <a:avLst/>
          </a:prstGeom>
          <a:noFill/>
          <a:ln w="76200">
            <a:solidFill>
              <a:srgbClr val="5665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5338" y="3563094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8662" y="3563094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2750" y="3667869"/>
            <a:ext cx="3238500" cy="491282"/>
          </a:xfrm>
          <a:prstGeom prst="roundRect">
            <a:avLst>
              <a:gd name="adj" fmla="val 11633"/>
            </a:avLst>
          </a:prstGeom>
          <a:solidFill>
            <a:srgbClr val="2E4053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14675" y="3744069"/>
            <a:ext cx="29146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Gemini-1.5-Flash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114675" y="3936355"/>
            <a:ext cx="2914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Expansion &amp; Generation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505325" y="4225826"/>
            <a:ext cx="133350" cy="0"/>
          </a:xfrm>
          <a:prstGeom prst="line">
            <a:avLst/>
          </a:prstGeom>
          <a:noFill/>
          <a:ln w="76200">
            <a:solidFill>
              <a:srgbClr val="5665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5338" y="4187726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8662" y="4187726"/>
            <a:ext cx="0" cy="76200"/>
          </a:xfrm>
          <a:prstGeom prst="line">
            <a:avLst/>
          </a:prstGeom>
          <a:noFill/>
          <a:ln w="66675">
            <a:solidFill>
              <a:srgbClr val="FFFFFF"/>
            </a:solidFill>
            <a:prstDash val="solid"/>
          </a:ln>
        </p:spPr>
      </p:sp>
      <p:pic>
        <p:nvPicPr>
          <p:cNvPr id="34" name="Image 0" descr="/tmp/rasterized-gradient-07094b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0" y="4292501"/>
            <a:ext cx="3238500" cy="504676"/>
          </a:xfrm>
          <a:prstGeom prst="rect">
            <a:avLst/>
          </a:prstGeom>
          <a:effectLst>
            <a:outerShdw sx="100000" sy="100000" kx="0" ky="0" algn="bl" rotWithShape="0" blurRad="57150" dist="19050" dir="5400000">
              <a:srgbClr val="000000">
                <a:alpha val="12000"/>
              </a:srgbClr>
            </a:outerShdw>
          </a:effectLst>
        </p:spPr>
      </p:pic>
      <p:sp>
        <p:nvSpPr>
          <p:cNvPr id="35" name="Text 32"/>
          <p:cNvSpPr/>
          <p:nvPr/>
        </p:nvSpPr>
        <p:spPr>
          <a:xfrm>
            <a:off x="3192399" y="4368701"/>
            <a:ext cx="27592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Response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3192399" y="4574381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(Grounded, Natural Language)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717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52172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Project Different?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5334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Research-Level Engineering vs. Standard ML Projects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9437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984" y="1440061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1394371"/>
            <a:ext cx="804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Train single pre-trained model (ResNet, BERT), fine-tune, evaluate accuracy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6300" y="1582936"/>
            <a:ext cx="804443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project: Integrated heterogeneous ML system (Vision Transformer, vector database, LLM, multimodal fusion) demonstrating production systems thinking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14580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0984" y="2191494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6300" y="2145804"/>
            <a:ext cx="804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Implement one architecture, report final metrics without understanding contributions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6300" y="2334369"/>
            <a:ext cx="804443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project: Implemented 5 architectural variants with systematic ablation achieving 95%+ semantic similarity and 86% latency reduction, mirroring research methodology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28972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984" y="2942927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6300" y="2897237"/>
            <a:ext cx="804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Use models out-of-the-box without addressing fundamental limitations like hallucination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6300" y="3085802"/>
            <a:ext cx="804443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project: Addressed LLM hallucination through retrieval-augmented generation grounding responses in curated inventory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81000" y="348153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0984" y="3527227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6300" y="3481536"/>
            <a:ext cx="804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Handle single modality (text OR images), or simple concatenation without embedding alignment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6300" y="3670102"/>
            <a:ext cx="804443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project: Achieved genuine text-image fusion in CLIP's shared embedding space with weighted combination (α=0.3)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81000" y="406583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0984" y="4111526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6300" y="4065836"/>
            <a:ext cx="804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Run code on small datasets without considering scalability, efficiency, or fault tolerance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76300" y="4254401"/>
            <a:ext cx="804443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project: Implemented GPU acceleration, batch processing, exponential backoff, achieving 86% latency reduction and 99%+ reliability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0" y="4722614"/>
            <a:ext cx="9144000" cy="420886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0" y="4732139"/>
            <a:ext cx="9144000" cy="0"/>
          </a:xfrm>
          <a:prstGeom prst="line">
            <a:avLst/>
          </a:prstGeom>
          <a:noFill/>
          <a:ln w="19050">
            <a:solidFill>
              <a:srgbClr val="5EA8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" y="4855964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Engineering: Building novel systems with rigorous experimentation and measurable results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Multi-Modal RAG Shopping Assistant</dc:title>
  <dc:subject>PptxGenJS Presentation</dc:subject>
  <dc:creator>Harsh Mamania</dc:creator>
  <cp:lastModifiedBy>Harsh Mamania</cp:lastModifiedBy>
  <cp:revision>1</cp:revision>
  <dcterms:created xsi:type="dcterms:W3CDTF">2025-11-01T23:44:15Z</dcterms:created>
  <dcterms:modified xsi:type="dcterms:W3CDTF">2025-11-01T23:44:15Z</dcterms:modified>
</cp:coreProperties>
</file>